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6809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Capstone Machine Learning Projects</a:t>
            </a:r>
          </a:p>
          <a:p>
            <a:pPr>
              <a:defRPr sz="1600">
                <a:solidFill>
                  <a:srgbClr val="647382"/>
                </a:solidFill>
              </a:defRPr>
            </a:pPr>
            <a:r>
              <a:t>Dual-Domain Predictive Applications &amp; Interactive Web Deployment</a:t>
            </a:r>
          </a:p>
          <a:p>
            <a:pPr>
              <a:spcBef>
                <a:spcPts val="2000"/>
              </a:spcBef>
              <a:defRPr sz="1300" b="1">
                <a:solidFill>
                  <a:srgbClr val="27AE60"/>
                </a:solidFill>
              </a:defRPr>
            </a:pPr>
            <a:r>
              <a:t>Project 1: Loan Approval Prediction System  |  Project 2: Disease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MCA III Semester (Session 2026–2027)  •  Lab Sheet-10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CAPSTONE MACHINE LEARNING PROJECTS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Executive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End-to-End Lifecycle: </a:t>
            </a:r>
            <a:r>
              <a:rPr sz="1400">
                <a:solidFill>
                  <a:srgbClr val="505A64"/>
                </a:solidFill>
              </a:rPr>
              <a:t>Integrate data preprocessing, feature engineering, algorithmic benchmarking, model serialization, and interactive web deployment into unified software applications.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Industry-Oriented Solutions: </a:t>
            </a:r>
            <a:r>
              <a:rPr sz="1400">
                <a:solidFill>
                  <a:srgbClr val="505A64"/>
                </a:solidFill>
              </a:rPr>
              <a:t>Develop practical, high-impact machine learning systems addressing critical challenges in Financial Risk (Credit Underwriting) and Digital Healthcare (Clinical Diagnosis).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Rigorous Algorithmic Comparison: </a:t>
            </a:r>
            <a:r>
              <a:rPr sz="1400">
                <a:solidFill>
                  <a:srgbClr val="505A64"/>
                </a:solidFill>
              </a:rPr>
              <a:t>Benchmark multiple families of classifiers (Linear models, Tree ensembles, Kernel methods, Instance-based, Neural Networks) using Stratified Cross-Validation.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Interactive Usability: </a:t>
            </a:r>
            <a:r>
              <a:rPr sz="1400">
                <a:solidFill>
                  <a:srgbClr val="505A64"/>
                </a:solidFill>
              </a:rPr>
              <a:t>Provide intuitive web interfaces enabling non-technical stakeholders to input parameters and receive immediate probabilistic inferences.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Production Deliverables: </a:t>
            </a:r>
            <a:r>
              <a:rPr sz="1400">
                <a:solidFill>
                  <a:srgbClr val="505A64"/>
                </a:solidFill>
              </a:rPr>
              <a:t>Deliver reproducible source code, multi-sheet Excel datasets, serialized models (.joblib), comprehensive documentation, and version-controlled GitHub repositories.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CAPSTONE MACHINE LEARNING PROJECTS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1. Raw Data Ingestion: </a:t>
            </a:r>
            <a:r>
              <a:rPr sz="1400">
                <a:solidFill>
                  <a:srgbClr val="505A64"/>
                </a:solidFill>
              </a:rPr>
              <a:t>Ingest domain datasets from multi-sheet Excel (.xlsx) and CSV files, auditing missing records, skewed distributions, and categorical schemas.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2. Automated Preprocessing Pipeline: </a:t>
            </a:r>
            <a:r>
              <a:rPr sz="1400">
                <a:solidFill>
                  <a:srgbClr val="505A64"/>
                </a:solidFill>
              </a:rPr>
              <a:t>Apply Scikit-learn ColumnTransformers: Median imputation for continuous variables, Mode imputation for categorical values, and One-Hot encoding.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3. Feature Engineering: </a:t>
            </a:r>
            <a:r>
              <a:rPr sz="1400">
                <a:solidFill>
                  <a:srgbClr val="505A64"/>
                </a:solidFill>
              </a:rPr>
              <a:t>Derive domain-informed features: Total Income, Loan-to-Income ratios, logarithmic transformations, and binary symptom co-occurrence vectors.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4. Multi-Algorithm Benchmarking: </a:t>
            </a:r>
            <a:r>
              <a:rPr sz="1400">
                <a:solidFill>
                  <a:srgbClr val="505A64"/>
                </a:solidFill>
              </a:rPr>
              <a:t>Evaluate 6 classification paradigms per project via 5-Fold Stratified Cross-Validation on Accuracy, Precision, Recall, F1, and ROC-AUC.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5. Model Serialization: </a:t>
            </a:r>
            <a:r>
              <a:rPr sz="1400">
                <a:solidFill>
                  <a:srgbClr val="505A64"/>
                </a:solidFill>
              </a:rPr>
              <a:t>Persist optimal models and preprocessing pipelines using Joblib compression for lightweight, zero-latency inference loading.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6. Flask Web Deployment: </a:t>
            </a:r>
            <a:r>
              <a:rPr sz="1400">
                <a:solidFill>
                  <a:srgbClr val="505A64"/>
                </a:solidFill>
              </a:rPr>
              <a:t>Deploy responsive web interfaces and RESTful JSON APIs for real-time inference and risk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FINANCIAL INTELLIGENCE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Project 1: Loan Approval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Business Problem: </a:t>
            </a:r>
            <a:r>
              <a:rPr sz="1400">
                <a:solidFill>
                  <a:srgbClr val="505A64"/>
                </a:solidFill>
              </a:rPr>
              <a:t>Commercial banks incur significant loss exposure from bad loans and operational delays in manual credit underwriting.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Analytical Objective: </a:t>
            </a:r>
            <a:r>
              <a:rPr sz="1400">
                <a:solidFill>
                  <a:srgbClr val="505A64"/>
                </a:solidFill>
              </a:rPr>
              <a:t>Automate credit risk eligibility decisions using historical applicant financial and demographic attributes.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Dataset Attributes: </a:t>
            </a:r>
            <a:r>
              <a:rPr sz="1400">
                <a:solidFill>
                  <a:srgbClr val="505A64"/>
                </a:solidFill>
              </a:rPr>
              <a:t>Evaluates 11 key features including Applicant Income, Co-applicant Income, Loan Amount, Loan Term, Credit History, Education, Employment Status, Marital Status, and Property Area.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Target Class: </a:t>
            </a:r>
            <a:r>
              <a:rPr sz="1400">
                <a:solidFill>
                  <a:srgbClr val="505A64"/>
                </a:solidFill>
              </a:rPr>
              <a:t>Loan_Status: Binary outcome ('Y' for Approved, 'N' for Rejected), reflecting underwriting eligibility.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Regulatory &amp; Compliance Requirement: </a:t>
            </a:r>
            <a:r>
              <a:rPr sz="1400">
                <a:solidFill>
                  <a:srgbClr val="505A64"/>
                </a:solidFill>
              </a:rPr>
              <a:t>Models must maintain high recall on solvent applicants while preserving explainability and mitigating biased lending.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FINANCIAL INTELLIGENCE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Loan System: Data Preprocessing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Missing Value Strategy: </a:t>
            </a:r>
            <a:r>
              <a:rPr sz="1400">
                <a:solidFill>
                  <a:srgbClr val="505A64"/>
                </a:solidFill>
              </a:rPr>
              <a:t>Audited nulls in Credit History (8%), Loan Amount (5%), and Self-Employed (5%). Median imputation applied for amounts; Mode for credit history.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Total Income Aggregation: </a:t>
            </a:r>
            <a:r>
              <a:rPr sz="1400">
                <a:solidFill>
                  <a:srgbClr val="505A64"/>
                </a:solidFill>
              </a:rPr>
              <a:t>Created Total_Income = ApplicantIncome + CoapplicantIncome, reflecting true combined household earning power.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Debt-to-Income / Loan Ratio: </a:t>
            </a:r>
            <a:r>
              <a:rPr sz="1400">
                <a:solidFill>
                  <a:srgbClr val="505A64"/>
                </a:solidFill>
              </a:rPr>
              <a:t>Engineered Loan_to_Income_Ratio = (LoanAmount * 1000) / Total_Income to measure financial leverage.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Logarithmic Normalization: </a:t>
            </a:r>
            <a:r>
              <a:rPr sz="1400">
                <a:solidFill>
                  <a:srgbClr val="505A64"/>
                </a:solidFill>
              </a:rPr>
              <a:t>Applied log(1 + x) transformations to Total Income and Loan Amount to normalize heavy right-skewed tails.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One-Hot Encoding &amp; Scaling: </a:t>
            </a:r>
            <a:r>
              <a:rPr sz="1400">
                <a:solidFill>
                  <a:srgbClr val="505A64"/>
                </a:solidFill>
              </a:rPr>
              <a:t>Categorical features encoded with drop-first strategy; numeric features scaled to zero mean and unit variance via StandardScaler.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FINANCIAL INTELLIGENCE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Loan System: Algorithm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Evaluated Algorithms: </a:t>
            </a:r>
            <a:r>
              <a:rPr sz="1400">
                <a:solidFill>
                  <a:srgbClr val="505A64"/>
                </a:solidFill>
              </a:rPr>
              <a:t>Benchmarked Logistic Regression, Random Forest, Gradient Boosting, Decision Tree, Support Vector Machine (SVC), and K-Nearest Neighbors.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Logistic Regression (Best): </a:t>
            </a:r>
            <a:r>
              <a:rPr sz="1400">
                <a:solidFill>
                  <a:srgbClr val="505A64"/>
                </a:solidFill>
              </a:rPr>
              <a:t>Achieved 73.33% Test Accuracy, 0.8150 F1-Score, and 0.6683 ROC-AUC, exhibiting exceptional calibration and robustness.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Tree Ensembles: </a:t>
            </a:r>
            <a:r>
              <a:rPr sz="1400">
                <a:solidFill>
                  <a:srgbClr val="505A64"/>
                </a:solidFill>
              </a:rPr>
              <a:t>Random Forest achieved 72.50% Test Accuracy and 0.8081 F1; Gradient Boosting achieved 70.00% Test Accuracy.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High Recall on Solvents: </a:t>
            </a:r>
            <a:r>
              <a:rPr sz="1400">
                <a:solidFill>
                  <a:srgbClr val="505A64"/>
                </a:solidFill>
              </a:rPr>
              <a:t>Optimal models achieved &gt;93% recall on approved applicants, ensuring legitimate borrowers are not falsely rejected.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Credit History Primacy: </a:t>
            </a:r>
            <a:r>
              <a:rPr sz="1400">
                <a:solidFill>
                  <a:srgbClr val="505A64"/>
                </a:solidFill>
              </a:rPr>
              <a:t>Credit History emerged as the single most decisive feature, with solvent credit history increasing approval probability by &gt;65%.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FINANCIAL INTELLIGENCE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Loan System: Confusion Matrix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Confusion Matrix Metrics: </a:t>
            </a:r>
            <a:r>
              <a:rPr sz="1400">
                <a:solidFill>
                  <a:srgbClr val="505A64"/>
                </a:solidFill>
              </a:rPr>
              <a:t>True Positives: 141 approved applicants correctly identified; Precision on approvals: 71.6%; Recall: 94.6%.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Top 5 Predictive Features: </a:t>
            </a:r>
            <a:r>
              <a:rPr sz="1400">
                <a:solidFill>
                  <a:srgbClr val="505A64"/>
                </a:solidFill>
              </a:rPr>
              <a:t>1. Credit History (Gini importance ~0.38), 2. Total Income Log (~0.18), 3. Loan-to-Income Ratio (~0.14), 4. Loan Amount (~0.12), 5. Property Area (~0.07).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Geographical Variation: </a:t>
            </a:r>
            <a:r>
              <a:rPr sz="1400">
                <a:solidFill>
                  <a:srgbClr val="505A64"/>
                </a:solidFill>
              </a:rPr>
              <a:t>Applicants in Semiurban areas experienced higher approval rates compared to Rural sectors with volatile agricultural earnings.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Education &amp; Stability: </a:t>
            </a:r>
            <a:r>
              <a:rPr sz="1400">
                <a:solidFill>
                  <a:srgbClr val="505A64"/>
                </a:solidFill>
              </a:rPr>
              <a:t>Graduates with non-self-employed status exhibited lower delinquency rates across all loan tiers.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FINANCIAL INTELLIGENCE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Loan System: Web Interface &amp;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Interactive Application Form: </a:t>
            </a:r>
            <a:r>
              <a:rPr sz="1400">
                <a:solidFill>
                  <a:srgbClr val="505A64"/>
                </a:solidFill>
              </a:rPr>
              <a:t>Clean, responsive Bootstrap 5 interface capturing demographic, employment, financial, and credit parameters.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Real-Time Decision Verdict: </a:t>
            </a:r>
            <a:r>
              <a:rPr sz="1400">
                <a:solidFill>
                  <a:srgbClr val="505A64"/>
                </a:solidFill>
              </a:rPr>
              <a:t>Instant eligibility prediction returning dynamic status badges ('Approved' / 'Rejected') and an animated probability bar.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Financial Transparency: </a:t>
            </a:r>
            <a:r>
              <a:rPr sz="1400">
                <a:solidFill>
                  <a:srgbClr val="505A64"/>
                </a:solidFill>
              </a:rPr>
              <a:t>Displays applicant financial summary alongside the decision to enhance customer trust.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REST API Integration: </a:t>
            </a:r>
            <a:r>
              <a:rPr sz="1400">
                <a:solidFill>
                  <a:srgbClr val="505A64"/>
                </a:solidFill>
              </a:rPr>
              <a:t>Headless JSON endpoint at /api/predict_loan enables integration into enterprise core banking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DIGITAL HEALTHCARE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Project 2: Disease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Clinical Need: </a:t>
            </a:r>
            <a:r>
              <a:rPr sz="1400">
                <a:solidFill>
                  <a:srgbClr val="505A64"/>
                </a:solidFill>
              </a:rPr>
              <a:t>Early symptom triage and diagnostic assistance alleviate emergency room backlogs and assist remote healthcare workers.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System Objective: </a:t>
            </a:r>
            <a:r>
              <a:rPr sz="1400">
                <a:solidFill>
                  <a:srgbClr val="505A64"/>
                </a:solidFill>
              </a:rPr>
              <a:t>Map complex multi-symptom patient profiles to probable medical diagnoses with calibrated confidence levels.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Clinical Breadth: </a:t>
            </a:r>
            <a:r>
              <a:rPr sz="1400">
                <a:solidFill>
                  <a:srgbClr val="505A64"/>
                </a:solidFill>
              </a:rPr>
              <a:t>Models cover 23 distinct clinical conditions including Jaundice, Malaria, Dengue, Diabetes, Pneumonia, Typhoid, and Tuberculosis.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Symptom Feature Space: </a:t>
            </a:r>
            <a:r>
              <a:rPr sz="1400">
                <a:solidFill>
                  <a:srgbClr val="505A64"/>
                </a:solidFill>
              </a:rPr>
              <a:t>Analyzes 80+ standardized symptoms ranging from acute signs (high fever, chills, breathlessness) to chronic signs (fatigue, joint pain, weight loss).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Differential Diagnosis: </a:t>
            </a:r>
            <a:r>
              <a:rPr sz="1400">
                <a:solidFill>
                  <a:srgbClr val="505A64"/>
                </a:solidFill>
              </a:rPr>
              <a:t>System computes probabilistic ranking across all candidate diseases, providing top-3 differential diagnostic possibilities.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DIGITAL HEALTHCARE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Disease System: Multi-Class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Binary Symptom Matrix: </a:t>
            </a:r>
            <a:r>
              <a:rPr sz="1400">
                <a:solidFill>
                  <a:srgbClr val="505A64"/>
                </a:solidFill>
              </a:rPr>
              <a:t>Structured as an orthogonal sparse binary indicator matrix (1 = symptom present, 0 = absent).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Label Encoding: </a:t>
            </a:r>
            <a:r>
              <a:rPr sz="1400">
                <a:solidFill>
                  <a:srgbClr val="505A64"/>
                </a:solidFill>
              </a:rPr>
              <a:t>Mapped 23 clinical prognoses to discrete integer targets for multi-class optimization.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Stratified Data Split: </a:t>
            </a:r>
            <a:r>
              <a:rPr sz="1400">
                <a:solidFill>
                  <a:srgbClr val="505A64"/>
                </a:solidFill>
              </a:rPr>
              <a:t>Implemented Stratified 80/20 train/test partitioning ensuring equal class representation across all medical conditions.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Clinical Noise Tolerance: </a:t>
            </a:r>
            <a:r>
              <a:rPr sz="1400">
                <a:solidFill>
                  <a:srgbClr val="505A64"/>
                </a:solidFill>
              </a:rPr>
              <a:t>Training protocols accommodated missing secondary symptoms and random non-specific somatic complaints.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DIGITAL HEALTHCARE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Disease System: Algorithm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Algorithms Compared: </a:t>
            </a:r>
            <a:r>
              <a:rPr sz="1400">
                <a:solidFill>
                  <a:srgbClr val="505A64"/>
                </a:solidFill>
              </a:rPr>
              <a:t>Benchmarked Random Forest, Multinomial Naive Bayes, Decision Tree, Support Vector Machine (Linear SVC), K-Nearest Neighbors, and Multi-Layer Perceptron (MLP).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Random Forest (Best Overall): </a:t>
            </a:r>
            <a:r>
              <a:rPr sz="1400">
                <a:solidFill>
                  <a:srgbClr val="505A64"/>
                </a:solidFill>
              </a:rPr>
              <a:t>Achieved 99.71% Test Accuracy and 0.9971 Weighted F1-Score, showing exceptional multi-class discrimination.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Multinomial Naive Bayes: </a:t>
            </a:r>
            <a:r>
              <a:rPr sz="1400">
                <a:solidFill>
                  <a:srgbClr val="505A64"/>
                </a:solidFill>
              </a:rPr>
              <a:t>Delivered 99.71% Test Accuracy in 0.05 seconds, benefiting from the conditional independence of binary symptom indicators.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Support Vector Machine (Linear): </a:t>
            </a:r>
            <a:r>
              <a:rPr sz="1400">
                <a:solidFill>
                  <a:srgbClr val="505A64"/>
                </a:solidFill>
              </a:rPr>
              <a:t>Achieved 99.71% Test Accuracy, finding maximum-margin separating hyperplanes in high-dimensional symptom space.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Multi-Layer Perceptron: </a:t>
            </a:r>
            <a:r>
              <a:rPr sz="1400">
                <a:solidFill>
                  <a:srgbClr val="505A64"/>
                </a:solidFill>
              </a:rPr>
              <a:t>Neural network (64x32 hidden units) converged to 99.71% accuracy, confirming strong non-linear classification capabilities.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DIGITAL HEALTHCARE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Disease System: Clinical Symptom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Gini Feature Importance: </a:t>
            </a:r>
            <a:r>
              <a:rPr sz="1400">
                <a:solidFill>
                  <a:srgbClr val="505A64"/>
                </a:solidFill>
              </a:rPr>
              <a:t>Extracted top symptom discriminators using Random Forest ensemble splitting criteria.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Key Discriminative Symptoms: </a:t>
            </a:r>
            <a:r>
              <a:rPr sz="1400">
                <a:solidFill>
                  <a:srgbClr val="505A64"/>
                </a:solidFill>
              </a:rPr>
              <a:t>High fever, chills, cough, yellowish skin, dark urine, chest pain, and vomiting exhibited highest informational gain.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Specific Biomarkers: </a:t>
            </a:r>
            <a:r>
              <a:rPr sz="1400">
                <a:solidFill>
                  <a:srgbClr val="505A64"/>
                </a:solidFill>
              </a:rPr>
              <a:t>Yellowish skin and dark urine selectively separated Jaundice and Hepatitis from other febrile illnesses.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Acute vs. General Symptoms: </a:t>
            </a:r>
            <a:r>
              <a:rPr sz="1400">
                <a:solidFill>
                  <a:srgbClr val="505A64"/>
                </a:solidFill>
              </a:rPr>
              <a:t>General symptoms (fatigue, headache) provided baseline disease suspicion, while pathognomonic symptoms pinpointed exact etiologies.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DIGITAL HEALTHCARE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Disease System: Diagnostic Web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Interactive Symptom Checklist: </a:t>
            </a:r>
            <a:r>
              <a:rPr sz="1400">
                <a:solidFill>
                  <a:srgbClr val="505A64"/>
                </a:solidFill>
              </a:rPr>
              <a:t>Scrollable, organized multi-select checklist allowing patients or triage nurses to check presenting symptoms.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Top-3 Differential Diagnosis: </a:t>
            </a:r>
            <a:r>
              <a:rPr sz="1400">
                <a:solidFill>
                  <a:srgbClr val="505A64"/>
                </a:solidFill>
              </a:rPr>
              <a:t>Returns the most probable primary diagnosis along with the 2 closest differential conditions and confidence percentages.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Clinical Precautions: </a:t>
            </a:r>
            <a:r>
              <a:rPr sz="1400">
                <a:solidFill>
                  <a:srgbClr val="505A64"/>
                </a:solidFill>
              </a:rPr>
              <a:t>Displays verified clinical guidance (e.g., hydration for gastroenteritis, isolation for tuberculosis) to promote patient safety.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Automated REST API: </a:t>
            </a:r>
            <a:r>
              <a:rPr sz="1400">
                <a:solidFill>
                  <a:srgbClr val="505A64"/>
                </a:solidFill>
              </a:rPr>
              <a:t>Exposes /api/predict_disease endpoint for mobile health and telemedicine application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QUALITY ASSURANCE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System Testing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PEP-8 Compliance: </a:t>
            </a:r>
            <a:r>
              <a:rPr sz="1400">
                <a:solidFill>
                  <a:srgbClr val="505A64"/>
                </a:solidFill>
              </a:rPr>
              <a:t>All Python scripts adhere strictly to PEP-8 formatting standards, comprehensive type annotations, and modular packaging.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Boundary &amp; Edge Case Testing: </a:t>
            </a:r>
            <a:r>
              <a:rPr sz="1400">
                <a:solidFill>
                  <a:srgbClr val="505A64"/>
                </a:solidFill>
              </a:rPr>
              <a:t>Tested zero-income applicants, extreme debt ratios, empty symptom sets, and conflicting symptoms with graceful error handling.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Serialization Integrity: </a:t>
            </a:r>
            <a:r>
              <a:rPr sz="1400">
                <a:solidFill>
                  <a:srgbClr val="505A64"/>
                </a:solidFill>
              </a:rPr>
              <a:t>Verified that serialized .joblib models and preprocessing pipelines reload identically with zero data leakage.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Cross-Browser Compatibility: </a:t>
            </a:r>
            <a:r>
              <a:rPr sz="1400">
                <a:solidFill>
                  <a:srgbClr val="505A64"/>
                </a:solidFill>
              </a:rPr>
              <a:t>Web interfaces verified across modern desktop and mobile browsers with responsive Bootstrap 5 components.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SUMMARY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Conclusions &amp; Viva Examination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Project Summary: </a:t>
            </a:r>
            <a:r>
              <a:rPr sz="1400">
                <a:solidFill>
                  <a:srgbClr val="505A64"/>
                </a:solidFill>
              </a:rPr>
              <a:t>Successfully designed, evaluated, and deployed two industry-grade machine learning solutions fulfilling all Lab Sheet-10 objectives.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Key Viva Questions Prepared: </a:t>
            </a:r>
            <a:r>
              <a:rPr sz="1400">
                <a:solidFill>
                  <a:srgbClr val="505A64"/>
                </a:solidFill>
              </a:rPr>
              <a:t>1. Precision vs. Recall in credit risk, 2. Handling multi-class imbalance, 3. Random Forest vs. Naive Bayes in high-dimensional text/symptom data, 4. Data leakage prevention in Scikit-Learn pipelines.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Deliverables Completed: </a:t>
            </a:r>
            <a:r>
              <a:rPr sz="1400">
                <a:solidFill>
                  <a:srgbClr val="505A64"/>
                </a:solidFill>
              </a:rPr>
              <a:t>Source code (.py &amp; .ipynb), multi-sheet Excel datasets, serialized models (.joblib), 15-slide PowerPoint presentation (.pptx), and responsive Flask web interfaces.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C3E50"/>
                </a:solidFill>
              </a:rPr>
              <a:t>Future Enhancements: </a:t>
            </a:r>
            <a:r>
              <a:rPr sz="1400">
                <a:solidFill>
                  <a:srgbClr val="505A64"/>
                </a:solidFill>
              </a:rPr>
              <a:t>Integration of SHAP (SHapley Additive exPlanations) for loan approval interpretability and deep clinical symptom embeddings via transformer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